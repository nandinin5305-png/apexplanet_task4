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3A2D-364A-4C30-903A-A0AD15C3E8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9A9E-87D8-4D9A-9EB4-E4229B894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81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3A2D-364A-4C30-903A-A0AD15C3E8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9A9E-87D8-4D9A-9EB4-E4229B894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0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3A2D-364A-4C30-903A-A0AD15C3E8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9A9E-87D8-4D9A-9EB4-E4229B894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3A2D-364A-4C30-903A-A0AD15C3E8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9A9E-87D8-4D9A-9EB4-E4229B894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0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3A2D-364A-4C30-903A-A0AD15C3E8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9A9E-87D8-4D9A-9EB4-E4229B894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93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3A2D-364A-4C30-903A-A0AD15C3E8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9A9E-87D8-4D9A-9EB4-E4229B894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47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3A2D-364A-4C30-903A-A0AD15C3E8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9A9E-87D8-4D9A-9EB4-E4229B894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155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3A2D-364A-4C30-903A-A0AD15C3E8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9A9E-87D8-4D9A-9EB4-E4229B894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10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3A2D-364A-4C30-903A-A0AD15C3E8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9A9E-87D8-4D9A-9EB4-E4229B894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50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3A2D-364A-4C30-903A-A0AD15C3E8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9A9E-87D8-4D9A-9EB4-E4229B894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21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3A2D-364A-4C30-903A-A0AD15C3E8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9A9E-87D8-4D9A-9EB4-E4229B894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38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33A2D-364A-4C30-903A-A0AD15C3E8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39A9E-87D8-4D9A-9EB4-E4229B894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746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ApexPlanet</a:t>
            </a:r>
            <a:r>
              <a:rPr lang="en-US" dirty="0" smtClean="0"/>
              <a:t> Data Analytics Internship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 smtClean="0"/>
              <a:t>Task 4: Hypothesis Testing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31723" y="5468815"/>
            <a:ext cx="42818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Presented by: Nandini Nitturi</a:t>
            </a:r>
          </a:p>
          <a:p>
            <a:r>
              <a:rPr lang="en-US" dirty="0" smtClean="0"/>
              <a:t>Tools: Python | Pandas | </a:t>
            </a:r>
            <a:r>
              <a:rPr lang="en-US" dirty="0" err="1" smtClean="0"/>
              <a:t>SciPy</a:t>
            </a:r>
            <a:r>
              <a:rPr lang="en-US" dirty="0" smtClean="0"/>
              <a:t> | </a:t>
            </a:r>
            <a:r>
              <a:rPr lang="en-US" dirty="0" err="1" smtClean="0"/>
              <a:t>Matplotlib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178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Analyze the sales dataset using statistical hypothesis testing</a:t>
            </a:r>
          </a:p>
          <a:p>
            <a:pPr marL="0" indent="0">
              <a:buNone/>
            </a:pPr>
            <a:r>
              <a:rPr lang="en-US" dirty="0" smtClean="0"/>
              <a:t>• Determine whether average Total Sales differs significantly from  ₹100,000</a:t>
            </a:r>
          </a:p>
          <a:p>
            <a:pPr marL="0" indent="0">
              <a:buNone/>
            </a:pPr>
            <a:r>
              <a:rPr lang="en-US" dirty="0" smtClean="0"/>
              <a:t>• Examine the relationship between Quantity and Total Sales</a:t>
            </a:r>
          </a:p>
          <a:p>
            <a:pPr marL="0" indent="0">
              <a:buNone/>
            </a:pPr>
            <a:r>
              <a:rPr lang="en-US" dirty="0" smtClean="0"/>
              <a:t>• Use statistical evidence to support business decisions</a:t>
            </a:r>
          </a:p>
          <a:p>
            <a:pPr marL="0" indent="0">
              <a:buNone/>
            </a:pPr>
            <a:r>
              <a:rPr lang="en-US" dirty="0" smtClean="0"/>
              <a:t>• Interpret the results using a 5% significance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080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• Dataset: Cleaned Sales Dataset</a:t>
            </a:r>
          </a:p>
          <a:p>
            <a:pPr marL="0" indent="0">
              <a:buNone/>
            </a:pPr>
            <a:r>
              <a:rPr lang="en-US" dirty="0" smtClean="0"/>
              <a:t>• Total Records: 1,000</a:t>
            </a:r>
          </a:p>
          <a:p>
            <a:pPr marL="0" indent="0">
              <a:buNone/>
            </a:pPr>
            <a:r>
              <a:rPr lang="en-US" dirty="0" smtClean="0"/>
              <a:t>• Numerical Variables:</a:t>
            </a:r>
          </a:p>
          <a:p>
            <a:pPr marL="0" indent="0">
              <a:buNone/>
            </a:pPr>
            <a:r>
              <a:rPr lang="en-US" dirty="0" smtClean="0"/>
              <a:t>   - Age</a:t>
            </a:r>
          </a:p>
          <a:p>
            <a:pPr marL="0" indent="0">
              <a:buNone/>
            </a:pPr>
            <a:r>
              <a:rPr lang="en-US" dirty="0" smtClean="0"/>
              <a:t>   - Quantity</a:t>
            </a:r>
          </a:p>
          <a:p>
            <a:pPr marL="0" indent="0">
              <a:buNone/>
            </a:pPr>
            <a:r>
              <a:rPr lang="en-US" dirty="0" smtClean="0"/>
              <a:t>   - Unit Price</a:t>
            </a:r>
          </a:p>
          <a:p>
            <a:pPr marL="0" indent="0">
              <a:buNone/>
            </a:pPr>
            <a:r>
              <a:rPr lang="en-US" dirty="0" smtClean="0"/>
              <a:t>   - Total Sales</a:t>
            </a:r>
          </a:p>
          <a:p>
            <a:pPr marL="0" indent="0">
              <a:buNone/>
            </a:pPr>
            <a:r>
              <a:rPr lang="en-US" dirty="0" smtClean="0"/>
              <a:t>•Data was cleaned and prepared before analysis</a:t>
            </a:r>
          </a:p>
          <a:p>
            <a:pPr marL="0" indent="0">
              <a:buNone/>
            </a:pPr>
            <a:r>
              <a:rPr lang="en-US" dirty="0" smtClean="0"/>
              <a:t>• Python and Pandas were used for data analysis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851057"/>
              </p:ext>
            </p:extLst>
          </p:nvPr>
        </p:nvGraphicFramePr>
        <p:xfrm>
          <a:off x="6479930" y="2198077"/>
          <a:ext cx="4774224" cy="2715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112">
                  <a:extLst>
                    <a:ext uri="{9D8B030D-6E8A-4147-A177-3AD203B41FA5}">
                      <a16:colId xmlns:a16="http://schemas.microsoft.com/office/drawing/2014/main" val="149523890"/>
                    </a:ext>
                  </a:extLst>
                </a:gridCol>
                <a:gridCol w="2387112">
                  <a:extLst>
                    <a:ext uri="{9D8B030D-6E8A-4147-A177-3AD203B41FA5}">
                      <a16:colId xmlns:a16="http://schemas.microsoft.com/office/drawing/2014/main" val="1257837249"/>
                    </a:ext>
                  </a:extLst>
                </a:gridCol>
              </a:tblGrid>
              <a:tr h="518746"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386955"/>
                  </a:ext>
                </a:extLst>
              </a:tr>
              <a:tr h="518746">
                <a:tc>
                  <a:txBody>
                    <a:bodyPr/>
                    <a:lstStyle/>
                    <a:p>
                      <a:r>
                        <a:rPr lang="en-US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Customer 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704503"/>
                  </a:ext>
                </a:extLst>
              </a:tr>
              <a:tr h="518746">
                <a:tc>
                  <a:txBody>
                    <a:bodyPr/>
                    <a:lstStyle/>
                    <a:p>
                      <a:r>
                        <a:rPr lang="en-US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Number of units purchased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2443964"/>
                  </a:ext>
                </a:extLst>
              </a:tr>
              <a:tr h="518746">
                <a:tc>
                  <a:txBody>
                    <a:bodyPr/>
                    <a:lstStyle/>
                    <a:p>
                      <a:r>
                        <a:rPr lang="en-US"/>
                        <a:t>Unit 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Price per unit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7432806"/>
                  </a:ext>
                </a:extLst>
              </a:tr>
              <a:tr h="518746">
                <a:tc>
                  <a:txBody>
                    <a:bodyPr/>
                    <a:lstStyle/>
                    <a:p>
                      <a:r>
                        <a:rPr lang="en-US"/>
                        <a:t>Total 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value of the sale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273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5636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Hypothesis Test 1 — Average Total Sales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0307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• Test Used: One-Sample t-Test</a:t>
            </a:r>
          </a:p>
          <a:p>
            <a:pPr marL="0" indent="0">
              <a:buNone/>
            </a:pPr>
            <a:r>
              <a:rPr lang="en-US" dirty="0" smtClean="0"/>
              <a:t>• Significance Level (α): 0.05</a:t>
            </a:r>
          </a:p>
          <a:p>
            <a:pPr marL="0" indent="0">
              <a:buNone/>
            </a:pPr>
            <a:r>
              <a:rPr lang="en-US" dirty="0" smtClean="0"/>
              <a:t>• H₀: Mean Total Sales = ₹100,000</a:t>
            </a:r>
          </a:p>
          <a:p>
            <a:pPr marL="0" indent="0">
              <a:buNone/>
            </a:pPr>
            <a:r>
              <a:rPr lang="en-US" dirty="0" smtClean="0"/>
              <a:t>• H₁: Mean Total Sales ≠ ₹100,000</a:t>
            </a:r>
          </a:p>
          <a:p>
            <a:pPr marL="0" indent="0">
              <a:buNone/>
            </a:pPr>
            <a:r>
              <a:rPr lang="en-US" dirty="0" smtClean="0"/>
              <a:t>• Sample Mean: ₹139,399.44</a:t>
            </a:r>
          </a:p>
          <a:p>
            <a:pPr marL="0" indent="0">
              <a:buNone/>
            </a:pPr>
            <a:r>
              <a:rPr lang="en-US" dirty="0" smtClean="0"/>
              <a:t>• t-statistic: 10.92</a:t>
            </a:r>
          </a:p>
          <a:p>
            <a:pPr marL="0" indent="0">
              <a:buNone/>
            </a:pPr>
            <a:r>
              <a:rPr lang="en-US" dirty="0" smtClean="0"/>
              <a:t>• p-value: 2.66 × 10⁻²⁶</a:t>
            </a:r>
          </a:p>
          <a:p>
            <a:pPr marL="0" indent="0">
              <a:buNone/>
            </a:pPr>
            <a:r>
              <a:rPr lang="en-US" dirty="0" smtClean="0"/>
              <a:t>• Decision: Reject H₀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16977" y="506208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Conclusion:</a:t>
            </a:r>
          </a:p>
          <a:p>
            <a:r>
              <a:rPr lang="en-US" dirty="0" smtClean="0"/>
              <a:t>There is statistically significant evidence that the average Total Sales is different from ₹100,000. The sample average is approximately ₹139,399.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571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Hypothesis Test 2 — Quantity vs Total Sales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0453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• Test Used: Pearson Correlation</a:t>
            </a:r>
          </a:p>
          <a:p>
            <a:pPr marL="0" indent="0">
              <a:buNone/>
            </a:pPr>
            <a:r>
              <a:rPr lang="en-US" dirty="0" smtClean="0"/>
              <a:t>• Variables: Quantity and Total Sales</a:t>
            </a:r>
          </a:p>
          <a:p>
            <a:pPr marL="0" indent="0">
              <a:buNone/>
            </a:pPr>
            <a:r>
              <a:rPr lang="en-US" dirty="0" smtClean="0"/>
              <a:t>• Significance Level (α): 0.05</a:t>
            </a:r>
          </a:p>
          <a:p>
            <a:pPr marL="0" indent="0">
              <a:buNone/>
            </a:pPr>
            <a:r>
              <a:rPr lang="en-US" dirty="0" smtClean="0"/>
              <a:t>• H₀: There is no significant relationship between Quantity and Total Sales</a:t>
            </a:r>
          </a:p>
          <a:p>
            <a:pPr marL="0" indent="0">
              <a:buNone/>
            </a:pPr>
            <a:r>
              <a:rPr lang="en-US" dirty="0" smtClean="0"/>
              <a:t>• H₁: There is a significant relationship between Quantity and Total Sales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58362" y="4065099"/>
            <a:ext cx="72712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• Correlation Coefficient: 0.647</a:t>
            </a:r>
          </a:p>
          <a:p>
            <a:r>
              <a:rPr lang="en-US" dirty="0" smtClean="0"/>
              <a:t>• P-value: 1.71 × 10⁻¹¹⁹</a:t>
            </a:r>
          </a:p>
          <a:p>
            <a:r>
              <a:rPr lang="en-US" dirty="0" smtClean="0"/>
              <a:t>• Decision: Reject H₀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58362" y="531705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Conclusion:</a:t>
            </a:r>
          </a:p>
          <a:p>
            <a:r>
              <a:rPr lang="en-US" dirty="0" smtClean="0"/>
              <a:t>There is a statistically significant positive relationship between Quantity and Total Sales. As Quantity increases, Total Sales tends to increase.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761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Visualizations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962" y="1825625"/>
            <a:ext cx="4607169" cy="3766283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654" y="1310054"/>
            <a:ext cx="5662246" cy="455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668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&amp; Business Insights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0392"/>
            <a:ext cx="10515600" cy="327953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• The average Total Sales was ₹139,399.44, which is significantly different from the hypothesized value of ₹100,000.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The one-sample t-test produced a p-value of 2.66 × 10⁻²⁶, leading to rejection of the null hypothesis.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Quantity and Total Sales showed a positive correlation of 0.647.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The Pearson correlation test produced a p-value of 1.71 × 10⁻¹¹⁹, indicating a statistically significant relationship.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Hypothesis testing helped identify meaningful patterns that can support data-driven business decisions.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1487656" y="5495192"/>
            <a:ext cx="7163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Key Takeaway:</a:t>
            </a:r>
          </a:p>
          <a:p>
            <a:r>
              <a:rPr lang="en-US" smtClean="0"/>
              <a:t>Statistical analysis shows that sales performance is significantly different from the benchmark, and higher quantities are associated with higher Total Sales.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71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456</Words>
  <Application>Microsoft Office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ApexPlanet Data Analytics Internship</vt:lpstr>
      <vt:lpstr>Objective</vt:lpstr>
      <vt:lpstr>Dataset Overview</vt:lpstr>
      <vt:lpstr>Hypothesis Test 1 — Average Total Sales</vt:lpstr>
      <vt:lpstr>Hypothesis Test 2 — Quantity vs Total Sales</vt:lpstr>
      <vt:lpstr>Visualizations</vt:lpstr>
      <vt:lpstr>Conclusion &amp; Business Insights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</cp:revision>
  <dcterms:created xsi:type="dcterms:W3CDTF">2026-08-19T16:19:56Z</dcterms:created>
  <dcterms:modified xsi:type="dcterms:W3CDTF">2026-08-19T16:48:18Z</dcterms:modified>
</cp:coreProperties>
</file>